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9" r:id="rId8"/>
    <p:sldId id="270" r:id="rId9"/>
    <p:sldId id="271" r:id="rId10"/>
    <p:sldId id="263" r:id="rId11"/>
    <p:sldId id="267"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60"/>
  </p:normalViewPr>
  <p:slideViewPr>
    <p:cSldViewPr snapToGrid="0" snapToObjects="1">
      <p:cViewPr varScale="1">
        <p:scale>
          <a:sx n="78" d="100"/>
          <a:sy n="78" d="100"/>
        </p:scale>
        <p:origin x="101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251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2339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33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4202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1080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225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7177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4880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12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08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40485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6538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82144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4502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66830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5478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11/19/2025</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276798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844" y="472572"/>
            <a:ext cx="7772400" cy="818444"/>
          </a:xfrm>
        </p:spPr>
        <p:txBody>
          <a:bodyPr>
            <a:normAutofit fontScale="90000"/>
          </a:bodyPr>
          <a:lstStyle/>
          <a:p>
            <a:pPr algn="ctr"/>
            <a:r>
              <a:rPr dirty="0">
                <a:solidFill>
                  <a:srgbClr val="FF0000"/>
                </a:solidFill>
                <a:latin typeface="Times New Roman" panose="02020603050405020304" pitchFamily="18" charset="0"/>
                <a:cs typeface="Times New Roman" panose="02020603050405020304" pitchFamily="18" charset="0"/>
              </a:rPr>
              <a:t>Project Review </a:t>
            </a:r>
          </a:p>
        </p:txBody>
      </p:sp>
      <p:sp>
        <p:nvSpPr>
          <p:cNvPr id="3" name="Subtitle 2"/>
          <p:cNvSpPr>
            <a:spLocks noGrp="1"/>
          </p:cNvSpPr>
          <p:nvPr>
            <p:ph type="subTitle" idx="1"/>
          </p:nvPr>
        </p:nvSpPr>
        <p:spPr>
          <a:xfrm>
            <a:off x="1761068" y="1648178"/>
            <a:ext cx="7123288" cy="4752621"/>
          </a:xfrm>
        </p:spPr>
        <p:txBody>
          <a:bodyPr>
            <a:normAutofit/>
          </a:bodyPr>
          <a:lstStyle/>
          <a:p>
            <a:pPr algn="ctr">
              <a:lnSpc>
                <a:spcPct val="150000"/>
              </a:lnSpc>
            </a:pPr>
            <a:r>
              <a:rPr sz="2400" b="1" dirty="0">
                <a:solidFill>
                  <a:srgbClr val="7030A0"/>
                </a:solidFill>
                <a:latin typeface="Times New Roman" panose="02020603050405020304" pitchFamily="18" charset="0"/>
                <a:cs typeface="Times New Roman" panose="02020603050405020304" pitchFamily="18" charset="0"/>
              </a:rPr>
              <a:t>Batch: 202</a:t>
            </a:r>
            <a:r>
              <a:rPr lang="en-US" sz="2400" b="1" dirty="0">
                <a:solidFill>
                  <a:srgbClr val="7030A0"/>
                </a:solidFill>
                <a:latin typeface="Times New Roman" panose="02020603050405020304" pitchFamily="18" charset="0"/>
                <a:cs typeface="Times New Roman" panose="02020603050405020304" pitchFamily="18" charset="0"/>
              </a:rPr>
              <a:t>2-26</a:t>
            </a:r>
            <a:endParaRPr sz="2400" b="1" dirty="0">
              <a:solidFill>
                <a:srgbClr val="7030A0"/>
              </a:solidFill>
              <a:latin typeface="Times New Roman" panose="02020603050405020304" pitchFamily="18" charset="0"/>
              <a:cs typeface="Times New Roman" panose="02020603050405020304" pitchFamily="18" charset="0"/>
            </a:endParaRPr>
          </a:p>
          <a:p>
            <a:pPr algn="ctr">
              <a:lnSpc>
                <a:spcPct val="150000"/>
              </a:lnSpc>
            </a:pPr>
            <a:r>
              <a:rPr sz="2400" b="1" dirty="0">
                <a:solidFill>
                  <a:srgbClr val="0070C0"/>
                </a:solidFill>
                <a:latin typeface="Times New Roman" panose="02020603050405020304" pitchFamily="18" charset="0"/>
                <a:cs typeface="Times New Roman" panose="02020603050405020304" pitchFamily="18" charset="0"/>
              </a:rPr>
              <a:t>Date: </a:t>
            </a:r>
            <a:r>
              <a:rPr lang="en-US" sz="2400" b="1" dirty="0">
                <a:solidFill>
                  <a:srgbClr val="0070C0"/>
                </a:solidFill>
                <a:latin typeface="Times New Roman" panose="02020603050405020304" pitchFamily="18" charset="0"/>
                <a:cs typeface="Times New Roman" panose="02020603050405020304" pitchFamily="18" charset="0"/>
              </a:rPr>
              <a:t>21.11.2025</a:t>
            </a:r>
          </a:p>
          <a:p>
            <a:pPr algn="ctr">
              <a:lnSpc>
                <a:spcPct val="150000"/>
              </a:lnSpc>
            </a:pPr>
            <a:r>
              <a:rPr lang="en-IN" b="1" dirty="0">
                <a:solidFill>
                  <a:srgbClr val="FF0000"/>
                </a:solidFill>
                <a:latin typeface="Times New Roman" panose="02020603050405020304" pitchFamily="18" charset="0"/>
                <a:cs typeface="Times New Roman" panose="02020603050405020304" pitchFamily="18" charset="0"/>
              </a:rPr>
              <a:t>DEPARTMENT OF ELECTRONICS AND COMMUNICATION ENGINEERING</a:t>
            </a:r>
          </a:p>
          <a:p>
            <a:pPr algn="ctr">
              <a:lnSpc>
                <a:spcPct val="150000"/>
              </a:lnSpc>
            </a:pPr>
            <a:r>
              <a:rPr lang="en-IN" sz="1400" b="1" dirty="0">
                <a:solidFill>
                  <a:srgbClr val="002060"/>
                </a:solidFill>
                <a:latin typeface="Times New Roman" panose="02020603050405020304" pitchFamily="18" charset="0"/>
                <a:cs typeface="Times New Roman" panose="02020603050405020304" pitchFamily="18" charset="0"/>
              </a:rPr>
              <a:t>SCHOOL OF ENGINEERING AND TECHNOLOGY</a:t>
            </a:r>
          </a:p>
          <a:p>
            <a:pPr algn="ctr">
              <a:lnSpc>
                <a:spcPct val="150000"/>
              </a:lnSpc>
            </a:pPr>
            <a:r>
              <a:rPr lang="en-US" sz="1400" b="1" dirty="0">
                <a:solidFill>
                  <a:srgbClr val="002060"/>
                </a:solidFill>
                <a:latin typeface="Times New Roman" panose="02020603050405020304" pitchFamily="18" charset="0"/>
                <a:cs typeface="Times New Roman" panose="02020603050405020304" pitchFamily="18" charset="0"/>
              </a:rPr>
              <a:t>GANDHI INSTITUTE OF ENGINEERING AND TECHNOLOGY UNIVERSITY, ODISHA, GUNUPUR</a:t>
            </a:r>
          </a:p>
          <a:p>
            <a:pPr algn="ctr">
              <a:lnSpc>
                <a:spcPct val="150000"/>
              </a:lnSpc>
            </a:pPr>
            <a:r>
              <a:rPr lang="en-US" sz="1400" b="1" dirty="0">
                <a:solidFill>
                  <a:srgbClr val="002060"/>
                </a:solidFill>
                <a:latin typeface="Times New Roman" panose="02020603050405020304" pitchFamily="18" charset="0"/>
                <a:cs typeface="Times New Roman" panose="02020603050405020304" pitchFamily="18" charset="0"/>
              </a:rPr>
              <a:t>(GIET UNIVERSITY)</a:t>
            </a:r>
          </a:p>
          <a:p>
            <a:endParaRPr dirty="0"/>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2535237" y="1752298"/>
            <a:ext cx="1235252" cy="10745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719268"/>
          </a:xfrm>
        </p:spPr>
        <p:txBody>
          <a:bodyPr/>
          <a:lstStyle/>
          <a:p>
            <a:r>
              <a:rPr dirty="0">
                <a:solidFill>
                  <a:srgbClr val="FF0000"/>
                </a:solidFill>
                <a:latin typeface="Times New Roman" panose="02020603050405020304" pitchFamily="18" charset="0"/>
                <a:cs typeface="Times New Roman" panose="02020603050405020304" pitchFamily="18" charset="0"/>
              </a:rPr>
              <a:t>Project Details</a:t>
            </a:r>
          </a:p>
        </p:txBody>
      </p:sp>
      <p:sp>
        <p:nvSpPr>
          <p:cNvPr id="3" name="Content Placeholder 2"/>
          <p:cNvSpPr>
            <a:spLocks noGrp="1"/>
          </p:cNvSpPr>
          <p:nvPr>
            <p:ph idx="1"/>
          </p:nvPr>
        </p:nvSpPr>
        <p:spPr>
          <a:xfrm>
            <a:off x="1942415" y="1569156"/>
            <a:ext cx="6943168" cy="4752622"/>
          </a:xfrm>
        </p:spPr>
        <p:txBody>
          <a:bodyPr/>
          <a:lstStyle/>
          <a:p>
            <a:pPr>
              <a:lnSpc>
                <a:spcPct val="150000"/>
              </a:lnSpc>
              <a:defRPr sz="1800"/>
            </a:pPr>
            <a:r>
              <a:rPr b="1" dirty="0">
                <a:latin typeface="Times New Roman" panose="02020603050405020304" pitchFamily="18" charset="0"/>
                <a:cs typeface="Times New Roman" panose="02020603050405020304" pitchFamily="18" charset="0"/>
              </a:rPr>
              <a:t>Project Title</a:t>
            </a:r>
            <a:r>
              <a:rPr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a:t>CMOS-Based 2:1 Multiplexer with XOR Gate for Fault-Detection</a:t>
            </a:r>
            <a:endParaRPr dirty="0">
              <a:latin typeface="Times New Roman" panose="02020603050405020304" pitchFamily="18" charset="0"/>
              <a:cs typeface="Times New Roman" panose="02020603050405020304" pitchFamily="18" charset="0"/>
            </a:endParaRPr>
          </a:p>
          <a:p>
            <a:pPr>
              <a:lnSpc>
                <a:spcPct val="150000"/>
              </a:lnSpc>
              <a:defRPr sz="1800"/>
            </a:pPr>
            <a:r>
              <a:rPr b="1" dirty="0">
                <a:latin typeface="Times New Roman" panose="02020603050405020304" pitchFamily="18" charset="0"/>
                <a:cs typeface="Times New Roman" panose="02020603050405020304" pitchFamily="18" charset="0"/>
              </a:rPr>
              <a:t>Team Members</a:t>
            </a:r>
            <a:r>
              <a:rPr dirty="0">
                <a:latin typeface="Times New Roman" panose="02020603050405020304" pitchFamily="18" charset="0"/>
                <a:cs typeface="Times New Roman" panose="02020603050405020304" pitchFamily="18" charset="0"/>
              </a:rPr>
              <a:t>:</a:t>
            </a:r>
          </a:p>
          <a:p>
            <a:pPr>
              <a:lnSpc>
                <a:spcPct val="150000"/>
              </a:lnSpc>
              <a:defRPr sz="1800"/>
            </a:pPr>
            <a:r>
              <a:rPr dirty="0">
                <a:latin typeface="Times New Roman" panose="02020603050405020304" pitchFamily="18" charset="0"/>
                <a:cs typeface="Times New Roman" panose="02020603050405020304" pitchFamily="18" charset="0"/>
              </a:rPr>
              <a:t>    1. </a:t>
            </a:r>
            <a:r>
              <a:rPr lang="en-US" dirty="0" err="1">
                <a:latin typeface="Times New Roman" panose="02020603050405020304" pitchFamily="18" charset="0"/>
                <a:cs typeface="Times New Roman" panose="02020603050405020304" pitchFamily="18" charset="0"/>
              </a:rPr>
              <a:t>Tutika</a:t>
            </a:r>
            <a:r>
              <a:rPr lang="en-US" dirty="0">
                <a:latin typeface="Times New Roman" panose="02020603050405020304" pitchFamily="18" charset="0"/>
                <a:cs typeface="Times New Roman" panose="02020603050405020304" pitchFamily="18" charset="0"/>
              </a:rPr>
              <a:t> Durga Prasad</a:t>
            </a:r>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22UG011335</a:t>
            </a:r>
            <a:r>
              <a:rPr dirty="0">
                <a:latin typeface="Times New Roman" panose="02020603050405020304" pitchFamily="18" charset="0"/>
                <a:cs typeface="Times New Roman" panose="02020603050405020304" pitchFamily="18" charset="0"/>
              </a:rPr>
              <a:t>)</a:t>
            </a:r>
          </a:p>
          <a:p>
            <a:pPr>
              <a:lnSpc>
                <a:spcPct val="150000"/>
              </a:lnSpc>
              <a:defRPr sz="1800"/>
            </a:pPr>
            <a:r>
              <a:rPr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Tamada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Lallu</a:t>
            </a:r>
            <a:r>
              <a:rPr lang="en-US" dirty="0">
                <a:latin typeface="Times New Roman" panose="02020603050405020304" pitchFamily="18" charset="0"/>
                <a:cs typeface="Times New Roman" panose="02020603050405020304" pitchFamily="18" charset="0"/>
              </a:rPr>
              <a:t> Kumar</a:t>
            </a:r>
            <a:r>
              <a:rPr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22UG011337</a:t>
            </a:r>
            <a:r>
              <a:rP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nSpc>
                <a:spcPct val="150000"/>
              </a:lnSpc>
              <a:defRPr sz="1800"/>
            </a:pPr>
            <a:r>
              <a:rPr lang="en-US" dirty="0">
                <a:latin typeface="Times New Roman" panose="02020603050405020304" pitchFamily="18" charset="0"/>
                <a:cs typeface="Times New Roman" panose="02020603050405020304" pitchFamily="18" charset="0"/>
              </a:rPr>
              <a:t> 	  3. Ponnitivalasa Devraj (22UG011329)</a:t>
            </a:r>
          </a:p>
          <a:p>
            <a:pPr>
              <a:lnSpc>
                <a:spcPct val="150000"/>
              </a:lnSpc>
              <a:defRPr sz="1800"/>
            </a:pPr>
            <a:r>
              <a:rPr lang="en-US" dirty="0">
                <a:latin typeface="Times New Roman" panose="02020603050405020304" pitchFamily="18" charset="0"/>
                <a:cs typeface="Times New Roman" panose="02020603050405020304" pitchFamily="18" charset="0"/>
              </a:rPr>
              <a:t>    4. Subham Satapathy(22UG011342)</a:t>
            </a:r>
            <a:endParaRPr dirty="0">
              <a:latin typeface="Times New Roman" panose="02020603050405020304" pitchFamily="18" charset="0"/>
              <a:cs typeface="Times New Roman" panose="02020603050405020304" pitchFamily="18" charset="0"/>
            </a:endParaRPr>
          </a:p>
          <a:p>
            <a:pPr>
              <a:lnSpc>
                <a:spcPct val="150000"/>
              </a:lnSpc>
              <a:defRPr sz="1800"/>
            </a:pPr>
            <a:r>
              <a:rPr b="1" dirty="0">
                <a:latin typeface="Times New Roman" panose="02020603050405020304" pitchFamily="18" charset="0"/>
                <a:cs typeface="Times New Roman" panose="02020603050405020304" pitchFamily="18" charset="0"/>
              </a:rPr>
              <a:t>Guide</a:t>
            </a:r>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Dr. Jitendra Kumar</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0563" y="0"/>
            <a:ext cx="6589199" cy="640246"/>
          </a:xfrm>
        </p:spPr>
        <p:txBody>
          <a:bodyPr/>
          <a:lstStyle/>
          <a:p>
            <a:r>
              <a:rPr u="sng" dirty="0">
                <a:solidFill>
                  <a:srgbClr val="FF0000"/>
                </a:solidFill>
                <a:latin typeface="Times New Roman" panose="02020603050405020304" pitchFamily="18" charset="0"/>
                <a:cs typeface="Times New Roman" panose="02020603050405020304" pitchFamily="18" charset="0"/>
              </a:rPr>
              <a:t>Problem Statement &amp; Objectives</a:t>
            </a:r>
          </a:p>
        </p:txBody>
      </p:sp>
      <p:sp>
        <p:nvSpPr>
          <p:cNvPr id="3" name="Content Placeholder 2"/>
          <p:cNvSpPr>
            <a:spLocks noGrp="1"/>
          </p:cNvSpPr>
          <p:nvPr>
            <p:ph idx="1"/>
          </p:nvPr>
        </p:nvSpPr>
        <p:spPr>
          <a:xfrm>
            <a:off x="1700563" y="944233"/>
            <a:ext cx="6833837" cy="4443666"/>
          </a:xfrm>
        </p:spPr>
        <p:txBody>
          <a:bodyPr>
            <a:normAutofit fontScale="77500" lnSpcReduction="20000"/>
          </a:bodyPr>
          <a:lstStyle/>
          <a:p>
            <a:endParaRPr dirty="0"/>
          </a:p>
          <a:p>
            <a:r>
              <a:rPr sz="2100" b="1" dirty="0">
                <a:solidFill>
                  <a:srgbClr val="7030A0"/>
                </a:solidFill>
                <a:latin typeface="Times New Roman" panose="02020603050405020304" pitchFamily="18" charset="0"/>
                <a:cs typeface="Times New Roman" panose="02020603050405020304" pitchFamily="18" charset="0"/>
              </a:rPr>
              <a:t>Problem Statement:</a:t>
            </a:r>
            <a:br>
              <a:rPr dirty="0">
                <a:latin typeface="Times New Roman" panose="02020603050405020304" pitchFamily="18" charset="0"/>
                <a:cs typeface="Times New Roman" panose="02020603050405020304" pitchFamily="18" charset="0"/>
              </a:rPr>
            </a:br>
            <a:r>
              <a:rPr lang="en-US" dirty="0"/>
              <a:t>The project aims to develop a </a:t>
            </a:r>
            <a:r>
              <a:rPr lang="en-US" b="1" dirty="0"/>
              <a:t>CMOS-based 2:1 multiplexer integrated with an XOR gate</a:t>
            </a:r>
            <a:r>
              <a:rPr lang="en-US" dirty="0"/>
              <a:t> that enhances real-time fault detection capabilities in modern computing systems. Traditional multiplexers lack built-in fault detection, which risks undetected errors particularly in critical and high-reliability systems like AI processors and quantum computing. The use of an XOR gate for comparing expected and actual outputs enables immediate detection of faults in multiplexer selections, improving reliability, signal integrity, and fault tolerance while maintaining low power and high speed with 90nm CMOS technology.</a:t>
            </a:r>
            <a:endParaRPr dirty="0">
              <a:latin typeface="Times New Roman" panose="02020603050405020304" pitchFamily="18" charset="0"/>
              <a:cs typeface="Times New Roman" panose="02020603050405020304" pitchFamily="18" charset="0"/>
            </a:endParaRPr>
          </a:p>
          <a:p>
            <a:r>
              <a:rPr sz="2100" b="1" dirty="0">
                <a:solidFill>
                  <a:srgbClr val="7030A0"/>
                </a:solidFill>
                <a:latin typeface="Times New Roman" panose="02020603050405020304" pitchFamily="18" charset="0"/>
                <a:cs typeface="Times New Roman" panose="02020603050405020304" pitchFamily="18" charset="0"/>
              </a:rPr>
              <a:t>Objectives</a:t>
            </a:r>
            <a:r>
              <a:rPr b="1" dirty="0">
                <a:solidFill>
                  <a:srgbClr val="7030A0"/>
                </a:solidFill>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1. </a:t>
            </a:r>
            <a:r>
              <a:rPr lang="en-US" dirty="0"/>
              <a:t>Design and implement a CMOS 2:1 multiplexer using transmission gates composed of complementary PMOS and NMOS transistors to ensure full voltage swing and low power consumption.</a:t>
            </a:r>
          </a:p>
          <a:p>
            <a:r>
              <a:rPr dirty="0">
                <a:latin typeface="Times New Roman" panose="02020603050405020304" pitchFamily="18" charset="0"/>
                <a:cs typeface="Times New Roman" panose="02020603050405020304" pitchFamily="18" charset="0"/>
              </a:rPr>
              <a:t>2. </a:t>
            </a:r>
            <a:r>
              <a:rPr lang="en-US" dirty="0"/>
              <a:t>Integrate an XOR gate to serve both as a signal selector and real-time fault detector by comparing expected and actual outputs for error indication.</a:t>
            </a:r>
          </a:p>
          <a:p>
            <a:r>
              <a:rPr dirty="0">
                <a:latin typeface="Times New Roman" panose="02020603050405020304" pitchFamily="18" charset="0"/>
                <a:cs typeface="Times New Roman" panose="02020603050405020304" pitchFamily="18" charset="0"/>
              </a:rPr>
              <a:t>3. </a:t>
            </a:r>
            <a:r>
              <a:rPr lang="en-US" dirty="0"/>
              <a:t>Achieve a design optimized for scalability and integration in fault-tolerant systems, particularly targeting AI hardware, quantum computing, FPGA systems, and low-power VLSI designs.</a:t>
            </a:r>
          </a:p>
          <a:p>
            <a:endParaRPr dirty="0">
              <a:latin typeface="Times New Roman" panose="02020603050405020304" pitchFamily="18" charset="0"/>
              <a:cs typeface="Times New Roman" panose="02020603050405020304" pitchFamily="18" charset="0"/>
            </a:endParaRPr>
          </a:p>
        </p:txBody>
      </p:sp>
      <p:sp useBgFill="1">
        <p:nvSpPr>
          <p:cNvPr id="4" name="TextBox 3">
            <a:extLst>
              <a:ext uri="{FF2B5EF4-FFF2-40B4-BE49-F238E27FC236}">
                <a16:creationId xmlns:a16="http://schemas.microsoft.com/office/drawing/2014/main" id="{E426068F-1016-ECAC-FC2E-D5CE4D8158EA}"/>
              </a:ext>
            </a:extLst>
          </p:cNvPr>
          <p:cNvSpPr txBox="1"/>
          <p:nvPr/>
        </p:nvSpPr>
        <p:spPr>
          <a:xfrm>
            <a:off x="177800" y="640246"/>
            <a:ext cx="8966200" cy="6278642"/>
          </a:xfrm>
          <a:prstGeom prst="rect">
            <a:avLst/>
          </a:prstGeom>
        </p:spPr>
        <p:txBody>
          <a:bodyPr wrap="square" rtlCol="0">
            <a:spAutoFit/>
          </a:bodyPr>
          <a:lstStyle/>
          <a:p>
            <a:r>
              <a:rPr lang="en-US" sz="2100" b="1" dirty="0">
                <a:solidFill>
                  <a:srgbClr val="7030A0"/>
                </a:solidFill>
                <a:latin typeface="Times New Roman" panose="02020603050405020304" pitchFamily="18" charset="0"/>
                <a:cs typeface="Times New Roman" panose="02020603050405020304" pitchFamily="18" charset="0"/>
              </a:rPr>
              <a:t>Problem Statement:</a:t>
            </a:r>
          </a:p>
          <a:p>
            <a:pPr algn="just"/>
            <a:br>
              <a:rPr lang="en-US" dirty="0">
                <a:latin typeface="Times New Roman" panose="02020603050405020304" pitchFamily="18" charset="0"/>
                <a:cs typeface="Times New Roman" panose="02020603050405020304" pitchFamily="18" charset="0"/>
              </a:rPr>
            </a:br>
            <a:r>
              <a:rPr lang="en-US" dirty="0"/>
              <a:t>The project aims to develop a </a:t>
            </a:r>
            <a:r>
              <a:rPr lang="en-US" b="1" dirty="0"/>
              <a:t>CMOS-based 2:1 multiplexer integrated with an XOR gate</a:t>
            </a:r>
            <a:r>
              <a:rPr lang="en-US" dirty="0"/>
              <a:t> that enhances real-time fault detection capabilities in modern computing systems. Traditional multiplexers lack built-in fault detection, which risks undetected errors particularly in critical and high-reliability systems like AI processors and quantum computing. The use of an XOR gate for comparing expected and actual outputs enables immediate detection of faults in multiplexer selections, improving reliability, signal integrity, and fault tolerance while maintaining low power and high speed with 90nm CMOS technology.</a:t>
            </a:r>
          </a:p>
          <a:p>
            <a:pPr algn="just"/>
            <a:endParaRPr lang="en-US" dirty="0">
              <a:latin typeface="Times New Roman" panose="02020603050405020304" pitchFamily="18" charset="0"/>
              <a:cs typeface="Times New Roman" panose="02020603050405020304" pitchFamily="18" charset="0"/>
            </a:endParaRPr>
          </a:p>
          <a:p>
            <a:r>
              <a:rPr lang="en-US" sz="2100" b="1" dirty="0">
                <a:solidFill>
                  <a:srgbClr val="7030A0"/>
                </a:solidFill>
                <a:latin typeface="Times New Roman" panose="02020603050405020304" pitchFamily="18" charset="0"/>
                <a:cs typeface="Times New Roman" panose="02020603050405020304" pitchFamily="18" charset="0"/>
              </a:rPr>
              <a:t>Objectives</a:t>
            </a:r>
            <a:r>
              <a:rPr lang="en-US" b="1" dirty="0">
                <a:solidFill>
                  <a:srgbClr val="7030A0"/>
                </a:solidFill>
                <a:latin typeface="Times New Roman" panose="02020603050405020304" pitchFamily="18" charset="0"/>
                <a:cs typeface="Times New Roman" panose="02020603050405020304" pitchFamily="18" charset="0"/>
              </a:rPr>
              <a:t>:</a:t>
            </a:r>
          </a:p>
          <a:p>
            <a:pPr algn="just"/>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1. </a:t>
            </a:r>
            <a:r>
              <a:rPr lang="en-US" dirty="0"/>
              <a:t>Design and implement a CMOS 2:1 multiplexer using transmission gates </a:t>
            </a:r>
          </a:p>
          <a:p>
            <a:pPr algn="just"/>
            <a:r>
              <a:rPr lang="en-US" dirty="0"/>
              <a:t>   composed of complementary PMOS and NMOS transistors to ensure full</a:t>
            </a:r>
          </a:p>
          <a:p>
            <a:pPr algn="just"/>
            <a:r>
              <a:rPr lang="en-US" dirty="0"/>
              <a:t>   voltage swing and low power consumption.</a:t>
            </a:r>
          </a:p>
          <a:p>
            <a:pPr algn="just"/>
            <a:r>
              <a:rPr lang="en-US" dirty="0">
                <a:latin typeface="Times New Roman" panose="02020603050405020304" pitchFamily="18" charset="0"/>
                <a:cs typeface="Times New Roman" panose="02020603050405020304" pitchFamily="18" charset="0"/>
              </a:rPr>
              <a:t>2. </a:t>
            </a:r>
            <a:r>
              <a:rPr lang="en-US" dirty="0"/>
              <a:t>Integrate an XOR gate to serve both as a signal selector and real-time fault</a:t>
            </a:r>
          </a:p>
          <a:p>
            <a:pPr algn="just"/>
            <a:r>
              <a:rPr lang="en-US" dirty="0"/>
              <a:t>   detector by comparing expected and actual outputs for error indication.</a:t>
            </a:r>
          </a:p>
          <a:p>
            <a:pPr algn="just"/>
            <a:r>
              <a:rPr lang="en-US" dirty="0">
                <a:latin typeface="Times New Roman" panose="02020603050405020304" pitchFamily="18" charset="0"/>
                <a:cs typeface="Times New Roman" panose="02020603050405020304" pitchFamily="18" charset="0"/>
              </a:rPr>
              <a:t>3. </a:t>
            </a:r>
            <a:r>
              <a:rPr lang="en-US" dirty="0"/>
              <a:t>Achieve a design optimized for scalability and integration in fault-tolerant</a:t>
            </a:r>
          </a:p>
          <a:p>
            <a:pPr algn="just"/>
            <a:r>
              <a:rPr lang="en-US" dirty="0"/>
              <a:t>    systems, particularly targeting AI hardware, quantum computing, FPGA</a:t>
            </a:r>
          </a:p>
          <a:p>
            <a:pPr algn="just"/>
            <a:r>
              <a:rPr lang="en-US" dirty="0"/>
              <a:t>    systems, and low-power VLSI designs.</a:t>
            </a:r>
          </a:p>
          <a:p>
            <a:pPr algn="just"/>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640246"/>
          </a:xfrm>
        </p:spPr>
        <p:txBody>
          <a:bodyPr/>
          <a:lstStyle/>
          <a:p>
            <a:r>
              <a:rPr u="sng" dirty="0">
                <a:solidFill>
                  <a:srgbClr val="FF0000"/>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1942415" y="1399822"/>
            <a:ext cx="6591985" cy="4511400"/>
          </a:xfrm>
        </p:spPr>
        <p:txBody>
          <a:bodyPr/>
          <a:lstStyle/>
          <a:p>
            <a:r>
              <a:rPr dirty="0">
                <a:latin typeface="Times New Roman" panose="02020603050405020304" pitchFamily="18" charset="0"/>
                <a:cs typeface="Times New Roman" panose="02020603050405020304" pitchFamily="18" charset="0"/>
              </a:rPr>
              <a:t>Summarize key findings from related works:</a:t>
            </a:r>
          </a:p>
          <a:p>
            <a:r>
              <a:rPr dirty="0">
                <a:latin typeface="Times New Roman" panose="02020603050405020304" pitchFamily="18" charset="0"/>
                <a:cs typeface="Times New Roman" panose="02020603050405020304" pitchFamily="18" charset="0"/>
              </a:rPr>
              <a:t>• </a:t>
            </a:r>
            <a:r>
              <a:rPr lang="en-US" dirty="0"/>
              <a:t>Various 2:1 multiplexer design styles have been compared, focusing on power, delay, and area trade-offs, highlighting transmission gate CMOS designs as favorable for low power and robustness (ICATCT 2020).</a:t>
            </a:r>
          </a:p>
          <a:p>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 </a:t>
            </a:r>
            <a:r>
              <a:rPr lang="en-US" dirty="0"/>
              <a:t>CMOS transmission gates, employing both PMOS and NMOS simultaneously, ensure full voltage swing and reduce signal degradation compared to pass transistor-only designs, improving output signal integrity.</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1381" y="351600"/>
            <a:ext cx="6589199" cy="617668"/>
          </a:xfrm>
        </p:spPr>
        <p:txBody>
          <a:bodyPr>
            <a:normAutofit fontScale="90000"/>
          </a:bodyPr>
          <a:lstStyle/>
          <a:p>
            <a:r>
              <a:rPr u="sng" dirty="0">
                <a:solidFill>
                  <a:srgbClr val="FF0000"/>
                </a:solidFill>
                <a:latin typeface="Times New Roman" panose="02020603050405020304" pitchFamily="18" charset="0"/>
                <a:cs typeface="Times New Roman" panose="02020603050405020304" pitchFamily="18" charset="0"/>
              </a:rPr>
              <a:t>Proposed Methodology</a:t>
            </a:r>
          </a:p>
        </p:txBody>
      </p:sp>
      <p:sp>
        <p:nvSpPr>
          <p:cNvPr id="3" name="Content Placeholder 2"/>
          <p:cNvSpPr>
            <a:spLocks noGrp="1"/>
          </p:cNvSpPr>
          <p:nvPr>
            <p:ph idx="1"/>
          </p:nvPr>
        </p:nvSpPr>
        <p:spPr>
          <a:xfrm>
            <a:off x="1539341" y="1053818"/>
            <a:ext cx="6591985" cy="4466244"/>
          </a:xfrm>
        </p:spPr>
        <p:txBody>
          <a:bodyPr/>
          <a:lstStyle/>
          <a:p>
            <a:r>
              <a:rPr b="1" dirty="0">
                <a:latin typeface="Times New Roman" panose="02020603050405020304" pitchFamily="18" charset="0"/>
                <a:cs typeface="Times New Roman" panose="02020603050405020304" pitchFamily="18" charset="0"/>
              </a:rPr>
              <a:t>Approach and Techniques: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Truth table, 90tech </a:t>
            </a:r>
            <a:r>
              <a:rPr lang="en-US" dirty="0" err="1">
                <a:latin typeface="Times New Roman" panose="02020603050405020304" pitchFamily="18" charset="0"/>
                <a:cs typeface="Times New Roman" panose="02020603050405020304" pitchFamily="18" charset="0"/>
              </a:rPr>
              <a:t>gpdk</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Software</a:t>
            </a:r>
            <a:r>
              <a:rPr dirty="0">
                <a:latin typeface="Times New Roman" panose="02020603050405020304" pitchFamily="18" charset="0"/>
                <a:cs typeface="Times New Roman" panose="02020603050405020304" pitchFamily="18" charset="0"/>
              </a:rPr>
              <a:t>: </a:t>
            </a:r>
            <a:r>
              <a:rPr lang="en-US" dirty="0"/>
              <a:t>Schematic in EDA (Cadence Virtuoso)</a:t>
            </a:r>
          </a:p>
          <a:p>
            <a:pPr marL="0" indent="0">
              <a:buNone/>
            </a:pPr>
            <a:r>
              <a:rPr lang="en-US" dirty="0"/>
              <a:t>        transient analysis.</a:t>
            </a:r>
          </a:p>
          <a:p>
            <a:r>
              <a:rPr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Tools/Platforms</a:t>
            </a:r>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Cadence Virtuoso </a:t>
            </a:r>
            <a:endParaRPr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4890C9-2C7D-AB6E-0C48-6CB86F63E2EB}"/>
              </a:ext>
            </a:extLst>
          </p:cNvPr>
          <p:cNvPicPr>
            <a:picLocks noChangeAspect="1"/>
          </p:cNvPicPr>
          <p:nvPr/>
        </p:nvPicPr>
        <p:blipFill>
          <a:blip r:embed="rId2"/>
          <a:srcRect l="3294" t="20714" b="11752"/>
          <a:stretch>
            <a:fillRect/>
          </a:stretch>
        </p:blipFill>
        <p:spPr>
          <a:xfrm>
            <a:off x="1216851" y="2674620"/>
            <a:ext cx="6567587" cy="23698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640246"/>
          </a:xfrm>
        </p:spPr>
        <p:txBody>
          <a:bodyPr/>
          <a:lstStyle/>
          <a:p>
            <a:r>
              <a:rPr u="sng" dirty="0">
                <a:solidFill>
                  <a:srgbClr val="FF0000"/>
                </a:solidFill>
                <a:latin typeface="Times New Roman" panose="02020603050405020304" pitchFamily="18" charset="0"/>
                <a:cs typeface="Times New Roman" panose="02020603050405020304" pitchFamily="18" charset="0"/>
              </a:rPr>
              <a:t>Expected Outcomes</a:t>
            </a:r>
          </a:p>
        </p:txBody>
      </p:sp>
      <p:sp>
        <p:nvSpPr>
          <p:cNvPr id="3" name="Content Placeholder 2"/>
          <p:cNvSpPr>
            <a:spLocks noGrp="1"/>
          </p:cNvSpPr>
          <p:nvPr>
            <p:ph idx="1"/>
          </p:nvPr>
        </p:nvSpPr>
        <p:spPr>
          <a:xfrm>
            <a:off x="1942415" y="1264356"/>
            <a:ext cx="6591985" cy="4646866"/>
          </a:xfrm>
        </p:spPr>
        <p:txBody>
          <a:bodyPr/>
          <a:lstStyle/>
          <a:p>
            <a:pPr marL="0" indent="0">
              <a:buNone/>
            </a:pPr>
            <a:r>
              <a:rPr b="1" dirty="0">
                <a:latin typeface="Times New Roman" panose="02020603050405020304" pitchFamily="18" charset="0"/>
                <a:cs typeface="Times New Roman" panose="02020603050405020304" pitchFamily="18" charset="0"/>
              </a:rPr>
              <a:t>Anticipated results or deliverables:</a:t>
            </a:r>
          </a:p>
          <a:p>
            <a:r>
              <a:rPr dirty="0"/>
              <a:t>• </a:t>
            </a:r>
            <a:r>
              <a:rPr lang="en-US" dirty="0"/>
              <a:t>A CMOS 2:1 multiplexer with an integrated XOR fault detection gate capable of reliable operation at 90nm technology node, showing 2 errors i.e. on 4</a:t>
            </a:r>
            <a:r>
              <a:rPr lang="en-US" baseline="30000" dirty="0"/>
              <a:t>th</a:t>
            </a:r>
            <a:r>
              <a:rPr lang="en-US" dirty="0"/>
              <a:t> and 6</a:t>
            </a:r>
            <a:r>
              <a:rPr lang="en-US" baseline="30000" dirty="0"/>
              <a:t>th</a:t>
            </a:r>
            <a:r>
              <a:rPr lang="en-US" dirty="0"/>
              <a:t> half cycle.</a:t>
            </a:r>
          </a:p>
          <a:p>
            <a:r>
              <a:rPr dirty="0"/>
              <a:t>• </a:t>
            </a:r>
            <a:r>
              <a:rPr lang="en-US" dirty="0"/>
              <a:t>Enhanced fault detection capabilities that improve overall system reliability, especially in fault-sensitive environments like AI processors, FPGA systems, and quantum computing hardware.</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70000">
              <a:srgbClr val="D9E8FF"/>
            </a:gs>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A6F88594-7A8B-D8C5-F08F-7F6113391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E6A56-DF22-90CB-9DA0-69CF97879A94}"/>
              </a:ext>
            </a:extLst>
          </p:cNvPr>
          <p:cNvSpPr>
            <a:spLocks noGrp="1"/>
          </p:cNvSpPr>
          <p:nvPr>
            <p:ph type="title"/>
          </p:nvPr>
        </p:nvSpPr>
        <p:spPr>
          <a:xfrm>
            <a:off x="2775781" y="152691"/>
            <a:ext cx="6589199" cy="640246"/>
          </a:xfrm>
        </p:spPr>
        <p:txBody>
          <a:bodyPr>
            <a:normAutofit/>
          </a:bodyPr>
          <a:lstStyle/>
          <a:p>
            <a:r>
              <a:rPr lang="en-US" u="sng" dirty="0">
                <a:solidFill>
                  <a:srgbClr val="FF0000"/>
                </a:solidFill>
                <a:latin typeface="Times New Roman" panose="02020603050405020304" pitchFamily="18" charset="0"/>
                <a:cs typeface="Times New Roman" panose="02020603050405020304" pitchFamily="18" charset="0"/>
              </a:rPr>
              <a:t>Truth Table</a:t>
            </a:r>
            <a:endParaRPr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574A413B-6D25-478A-841B-DF1FA3022439}"/>
              </a:ext>
            </a:extLst>
          </p:cNvPr>
          <p:cNvGraphicFramePr>
            <a:graphicFrameLocks noGrp="1"/>
          </p:cNvGraphicFramePr>
          <p:nvPr>
            <p:extLst>
              <p:ext uri="{D42A27DB-BD31-4B8C-83A1-F6EECF244321}">
                <p14:modId xmlns:p14="http://schemas.microsoft.com/office/powerpoint/2010/main" val="1791554582"/>
              </p:ext>
            </p:extLst>
          </p:nvPr>
        </p:nvGraphicFramePr>
        <p:xfrm>
          <a:off x="1371601" y="2753360"/>
          <a:ext cx="6609080" cy="3473378"/>
        </p:xfrm>
        <a:graphic>
          <a:graphicData uri="http://schemas.openxmlformats.org/drawingml/2006/table">
            <a:tbl>
              <a:tblPr firstRow="1">
                <a:tableStyleId>{5940675A-B579-460E-94D1-54222C63F5DA}</a:tableStyleId>
              </a:tblPr>
              <a:tblGrid>
                <a:gridCol w="1058140">
                  <a:extLst>
                    <a:ext uri="{9D8B030D-6E8A-4147-A177-3AD203B41FA5}">
                      <a16:colId xmlns:a16="http://schemas.microsoft.com/office/drawing/2014/main" val="505631493"/>
                    </a:ext>
                  </a:extLst>
                </a:gridCol>
                <a:gridCol w="1142889">
                  <a:extLst>
                    <a:ext uri="{9D8B030D-6E8A-4147-A177-3AD203B41FA5}">
                      <a16:colId xmlns:a16="http://schemas.microsoft.com/office/drawing/2014/main" val="851816309"/>
                    </a:ext>
                  </a:extLst>
                </a:gridCol>
                <a:gridCol w="1036348">
                  <a:extLst>
                    <a:ext uri="{9D8B030D-6E8A-4147-A177-3AD203B41FA5}">
                      <a16:colId xmlns:a16="http://schemas.microsoft.com/office/drawing/2014/main" val="671194841"/>
                    </a:ext>
                  </a:extLst>
                </a:gridCol>
                <a:gridCol w="978235">
                  <a:extLst>
                    <a:ext uri="{9D8B030D-6E8A-4147-A177-3AD203B41FA5}">
                      <a16:colId xmlns:a16="http://schemas.microsoft.com/office/drawing/2014/main" val="1014282061"/>
                    </a:ext>
                  </a:extLst>
                </a:gridCol>
                <a:gridCol w="2393468">
                  <a:extLst>
                    <a:ext uri="{9D8B030D-6E8A-4147-A177-3AD203B41FA5}">
                      <a16:colId xmlns:a16="http://schemas.microsoft.com/office/drawing/2014/main" val="2874699802"/>
                    </a:ext>
                  </a:extLst>
                </a:gridCol>
              </a:tblGrid>
              <a:tr h="377186">
                <a:tc>
                  <a:txBody>
                    <a:bodyPr/>
                    <a:lstStyle/>
                    <a:p>
                      <a:pPr algn="ctr"/>
                      <a:r>
                        <a:rPr lang="en-US" sz="1600" b="1" dirty="0">
                          <a:solidFill>
                            <a:schemeClr val="tx1"/>
                          </a:solidFill>
                        </a:rPr>
                        <a:t>A</a:t>
                      </a:r>
                      <a:endParaRPr lang="en-IN" sz="1600" b="1" dirty="0">
                        <a:solidFill>
                          <a:schemeClr val="tx1"/>
                        </a:solidFill>
                      </a:endParaRPr>
                    </a:p>
                  </a:txBody>
                  <a:tcPr>
                    <a:noFill/>
                  </a:tcPr>
                </a:tc>
                <a:tc>
                  <a:txBody>
                    <a:bodyPr/>
                    <a:lstStyle/>
                    <a:p>
                      <a:pPr algn="ctr"/>
                      <a:r>
                        <a:rPr lang="en-US" sz="1600" b="1" dirty="0">
                          <a:solidFill>
                            <a:schemeClr val="tx1"/>
                          </a:solidFill>
                        </a:rPr>
                        <a:t>B</a:t>
                      </a:r>
                      <a:endParaRPr lang="en-IN" sz="1600" b="1" dirty="0">
                        <a:solidFill>
                          <a:schemeClr val="tx1"/>
                        </a:solidFill>
                      </a:endParaRPr>
                    </a:p>
                  </a:txBody>
                  <a:tcPr>
                    <a:noFill/>
                  </a:tcPr>
                </a:tc>
                <a:tc>
                  <a:txBody>
                    <a:bodyPr/>
                    <a:lstStyle/>
                    <a:p>
                      <a:pPr algn="ctr"/>
                      <a:r>
                        <a:rPr lang="en-US" sz="1600" b="1" dirty="0">
                          <a:solidFill>
                            <a:schemeClr val="tx1"/>
                          </a:solidFill>
                        </a:rPr>
                        <a:t>S</a:t>
                      </a:r>
                      <a:endParaRPr lang="en-IN" sz="1600" b="1" dirty="0">
                        <a:solidFill>
                          <a:schemeClr val="tx1"/>
                        </a:solidFill>
                      </a:endParaRPr>
                    </a:p>
                  </a:txBody>
                  <a:tcPr>
                    <a:noFill/>
                  </a:tcPr>
                </a:tc>
                <a:tc>
                  <a:txBody>
                    <a:bodyPr/>
                    <a:lstStyle/>
                    <a:p>
                      <a:pPr algn="ctr"/>
                      <a:r>
                        <a:rPr lang="en-US" sz="1600" b="1" dirty="0">
                          <a:solidFill>
                            <a:schemeClr val="tx1"/>
                          </a:solidFill>
                        </a:rPr>
                        <a:t>Y(mux)</a:t>
                      </a:r>
                      <a:endParaRPr lang="en-IN" sz="1600" b="1" dirty="0">
                        <a:solidFill>
                          <a:schemeClr val="tx1"/>
                        </a:solidFill>
                      </a:endParaRPr>
                    </a:p>
                  </a:txBody>
                  <a:tcPr>
                    <a:noFill/>
                  </a:tcPr>
                </a:tc>
                <a:tc>
                  <a:txBody>
                    <a:bodyPr/>
                    <a:lstStyle/>
                    <a:p>
                      <a:pPr algn="ctr"/>
                      <a:r>
                        <a:rPr lang="en-US" sz="1600" b="1" dirty="0">
                          <a:solidFill>
                            <a:schemeClr val="tx1"/>
                          </a:solidFill>
                        </a:rPr>
                        <a:t>Y(out)=y(mux) </a:t>
                      </a:r>
                      <a:r>
                        <a:rPr lang="en-US" sz="1600" b="1" dirty="0" err="1">
                          <a:solidFill>
                            <a:schemeClr val="tx1"/>
                          </a:solidFill>
                        </a:rPr>
                        <a:t>xor</a:t>
                      </a:r>
                      <a:r>
                        <a:rPr lang="en-US" sz="1600" b="1" dirty="0">
                          <a:solidFill>
                            <a:schemeClr val="tx1"/>
                          </a:solidFill>
                        </a:rPr>
                        <a:t> A</a:t>
                      </a:r>
                      <a:endParaRPr lang="en-IN" sz="1600" b="1" dirty="0">
                        <a:solidFill>
                          <a:schemeClr val="tx1"/>
                        </a:solidFill>
                      </a:endParaRPr>
                    </a:p>
                  </a:txBody>
                  <a:tcPr>
                    <a:noFill/>
                  </a:tcPr>
                </a:tc>
                <a:extLst>
                  <a:ext uri="{0D108BD9-81ED-4DB2-BD59-A6C34878D82A}">
                    <a16:rowId xmlns:a16="http://schemas.microsoft.com/office/drawing/2014/main" val="4107941867"/>
                  </a:ext>
                </a:extLst>
              </a:tr>
              <a:tr h="387024">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extLst>
                  <a:ext uri="{0D108BD9-81ED-4DB2-BD59-A6C34878D82A}">
                    <a16:rowId xmlns:a16="http://schemas.microsoft.com/office/drawing/2014/main" val="3349597430"/>
                  </a:ext>
                </a:extLst>
              </a:tr>
              <a:tr h="387024">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extLst>
                  <a:ext uri="{0D108BD9-81ED-4DB2-BD59-A6C34878D82A}">
                    <a16:rowId xmlns:a16="http://schemas.microsoft.com/office/drawing/2014/main" val="985513670"/>
                  </a:ext>
                </a:extLst>
              </a:tr>
              <a:tr h="387024">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extLst>
                  <a:ext uri="{0D108BD9-81ED-4DB2-BD59-A6C34878D82A}">
                    <a16:rowId xmlns:a16="http://schemas.microsoft.com/office/drawing/2014/main" val="183793866"/>
                  </a:ext>
                </a:extLst>
              </a:tr>
              <a:tr h="387024">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extLst>
                  <a:ext uri="{0D108BD9-81ED-4DB2-BD59-A6C34878D82A}">
                    <a16:rowId xmlns:a16="http://schemas.microsoft.com/office/drawing/2014/main" val="1613852760"/>
                  </a:ext>
                </a:extLst>
              </a:tr>
              <a:tr h="387024">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extLst>
                  <a:ext uri="{0D108BD9-81ED-4DB2-BD59-A6C34878D82A}">
                    <a16:rowId xmlns:a16="http://schemas.microsoft.com/office/drawing/2014/main" val="4165814664"/>
                  </a:ext>
                </a:extLst>
              </a:tr>
              <a:tr h="387024">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extLst>
                  <a:ext uri="{0D108BD9-81ED-4DB2-BD59-A6C34878D82A}">
                    <a16:rowId xmlns:a16="http://schemas.microsoft.com/office/drawing/2014/main" val="3473185574"/>
                  </a:ext>
                </a:extLst>
              </a:tr>
              <a:tr h="387024">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extLst>
                  <a:ext uri="{0D108BD9-81ED-4DB2-BD59-A6C34878D82A}">
                    <a16:rowId xmlns:a16="http://schemas.microsoft.com/office/drawing/2014/main" val="2885620919"/>
                  </a:ext>
                </a:extLst>
              </a:tr>
              <a:tr h="387024">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1</a:t>
                      </a:r>
                      <a:endParaRPr lang="en-IN" sz="1600" dirty="0">
                        <a:solidFill>
                          <a:schemeClr val="tx1"/>
                        </a:solidFill>
                      </a:endParaRPr>
                    </a:p>
                  </a:txBody>
                  <a:tcPr>
                    <a:noFill/>
                  </a:tcPr>
                </a:tc>
                <a:tc>
                  <a:txBody>
                    <a:bodyPr/>
                    <a:lstStyle/>
                    <a:p>
                      <a:pPr algn="ctr"/>
                      <a:r>
                        <a:rPr lang="en-US" sz="1600" dirty="0">
                          <a:solidFill>
                            <a:schemeClr val="tx1"/>
                          </a:solidFill>
                        </a:rPr>
                        <a:t>0</a:t>
                      </a:r>
                      <a:endParaRPr lang="en-IN" sz="1600" dirty="0">
                        <a:solidFill>
                          <a:schemeClr val="tx1"/>
                        </a:solidFill>
                      </a:endParaRPr>
                    </a:p>
                  </a:txBody>
                  <a:tcPr>
                    <a:noFill/>
                  </a:tcPr>
                </a:tc>
                <a:extLst>
                  <a:ext uri="{0D108BD9-81ED-4DB2-BD59-A6C34878D82A}">
                    <a16:rowId xmlns:a16="http://schemas.microsoft.com/office/drawing/2014/main" val="3309957348"/>
                  </a:ext>
                </a:extLst>
              </a:tr>
            </a:tbl>
          </a:graphicData>
        </a:graphic>
      </p:graphicFrame>
      <p:sp>
        <p:nvSpPr>
          <p:cNvPr id="7" name="TextBox 6">
            <a:extLst>
              <a:ext uri="{FF2B5EF4-FFF2-40B4-BE49-F238E27FC236}">
                <a16:creationId xmlns:a16="http://schemas.microsoft.com/office/drawing/2014/main" id="{1297BE91-2F5D-001A-9A04-98E05D60B532}"/>
              </a:ext>
            </a:extLst>
          </p:cNvPr>
          <p:cNvSpPr txBox="1"/>
          <p:nvPr/>
        </p:nvSpPr>
        <p:spPr>
          <a:xfrm>
            <a:off x="1478280" y="1034484"/>
            <a:ext cx="7338060" cy="1477328"/>
          </a:xfrm>
          <a:prstGeom prst="rect">
            <a:avLst/>
          </a:prstGeom>
          <a:noFill/>
        </p:spPr>
        <p:txBody>
          <a:bodyPr wrap="square" rtlCol="0">
            <a:spAutoFit/>
          </a:bodyPr>
          <a:lstStyle/>
          <a:p>
            <a:r>
              <a:rPr lang="en-US" dirty="0"/>
              <a:t>This below is the truth table for the circuit.</a:t>
            </a:r>
          </a:p>
          <a:p>
            <a:pPr marL="285750" indent="-285750">
              <a:buFont typeface="Arial" panose="020B0604020202020204" pitchFamily="34" charset="0"/>
              <a:buChar char="•"/>
            </a:pPr>
            <a:r>
              <a:rPr lang="en-US" dirty="0"/>
              <a:t>A and B are the inputs and s is select line of mux.</a:t>
            </a:r>
          </a:p>
          <a:p>
            <a:pPr marL="285750" indent="-285750">
              <a:buFont typeface="Arial" panose="020B0604020202020204" pitchFamily="34" charset="0"/>
              <a:buChar char="•"/>
            </a:pPr>
            <a:r>
              <a:rPr lang="en-US" dirty="0"/>
              <a:t> Y(mux) is output of 2:1 mux and y(out) compares A and y(mux).</a:t>
            </a:r>
          </a:p>
          <a:p>
            <a:pPr marL="285750" indent="-285750">
              <a:buFont typeface="Arial" panose="020B0604020202020204" pitchFamily="34" charset="0"/>
              <a:buChar char="•"/>
            </a:pPr>
            <a:r>
              <a:rPr lang="en-US" dirty="0"/>
              <a:t>At 4</a:t>
            </a:r>
            <a:r>
              <a:rPr lang="en-US" baseline="30000" dirty="0"/>
              <a:t>th</a:t>
            </a:r>
            <a:r>
              <a:rPr lang="en-US" dirty="0"/>
              <a:t> and 6</a:t>
            </a:r>
            <a:r>
              <a:rPr lang="en-US" baseline="30000" dirty="0"/>
              <a:t>th</a:t>
            </a:r>
            <a:r>
              <a:rPr lang="en-US" dirty="0"/>
              <a:t> cycle it detects error, so, y(out) is 1.</a:t>
            </a:r>
            <a:endParaRPr lang="en-IN" dirty="0"/>
          </a:p>
        </p:txBody>
      </p:sp>
      <p:sp>
        <p:nvSpPr>
          <p:cNvPr id="8" name="Arrow: Right 7">
            <a:extLst>
              <a:ext uri="{FF2B5EF4-FFF2-40B4-BE49-F238E27FC236}">
                <a16:creationId xmlns:a16="http://schemas.microsoft.com/office/drawing/2014/main" id="{06E63E1E-085C-9B2A-9A82-256E23795205}"/>
              </a:ext>
            </a:extLst>
          </p:cNvPr>
          <p:cNvSpPr/>
          <p:nvPr/>
        </p:nvSpPr>
        <p:spPr>
          <a:xfrm rot="10800000">
            <a:off x="7980680" y="4395016"/>
            <a:ext cx="835659" cy="235977"/>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C6FB988A-A6C0-8AF0-D173-8D36EBE96B4E}"/>
              </a:ext>
            </a:extLst>
          </p:cNvPr>
          <p:cNvSpPr/>
          <p:nvPr/>
        </p:nvSpPr>
        <p:spPr>
          <a:xfrm rot="10800000">
            <a:off x="7980679" y="5074900"/>
            <a:ext cx="835659" cy="235977"/>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08829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0422-6BBC-719C-515D-8057864C8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7D4F1-E88F-E47B-1869-55463D6889F9}"/>
              </a:ext>
            </a:extLst>
          </p:cNvPr>
          <p:cNvSpPr>
            <a:spLocks noGrp="1"/>
          </p:cNvSpPr>
          <p:nvPr>
            <p:ph type="title"/>
          </p:nvPr>
        </p:nvSpPr>
        <p:spPr>
          <a:xfrm>
            <a:off x="1277400" y="451390"/>
            <a:ext cx="6589199" cy="753134"/>
          </a:xfrm>
        </p:spPr>
        <p:txBody>
          <a:bodyPr/>
          <a:lstStyle/>
          <a:p>
            <a:pPr algn="ctr"/>
            <a:r>
              <a:rPr lang="en-US" u="sng" dirty="0">
                <a:solidFill>
                  <a:srgbClr val="FF0000"/>
                </a:solidFill>
                <a:latin typeface="Times New Roman" panose="02020603050405020304" pitchFamily="18" charset="0"/>
                <a:cs typeface="Times New Roman" panose="02020603050405020304" pitchFamily="18" charset="0"/>
              </a:rPr>
              <a:t>Schematic design</a:t>
            </a:r>
            <a:endParaRPr u="sng"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149D150-EF42-96EA-A778-08E27ACD5C44}"/>
              </a:ext>
            </a:extLst>
          </p:cNvPr>
          <p:cNvPicPr>
            <a:picLocks noChangeAspect="1"/>
          </p:cNvPicPr>
          <p:nvPr/>
        </p:nvPicPr>
        <p:blipFill>
          <a:blip r:embed="rId2"/>
          <a:srcRect l="21273" t="21852" r="10222" b="8420"/>
          <a:stretch>
            <a:fillRect/>
          </a:stretch>
        </p:blipFill>
        <p:spPr>
          <a:xfrm>
            <a:off x="414318" y="1306290"/>
            <a:ext cx="8560818" cy="4901470"/>
          </a:xfrm>
          <a:prstGeom prst="rect">
            <a:avLst/>
          </a:prstGeom>
        </p:spPr>
      </p:pic>
    </p:spTree>
    <p:extLst>
      <p:ext uri="{BB962C8B-B14F-4D97-AF65-F5344CB8AC3E}">
        <p14:creationId xmlns:p14="http://schemas.microsoft.com/office/powerpoint/2010/main" val="4020467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5772C-C39E-B4CC-A6BB-09547A5571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DD45B-1C45-60A9-05CD-B4E1E3FAB890}"/>
              </a:ext>
            </a:extLst>
          </p:cNvPr>
          <p:cNvSpPr>
            <a:spLocks noGrp="1"/>
          </p:cNvSpPr>
          <p:nvPr>
            <p:ph type="title"/>
          </p:nvPr>
        </p:nvSpPr>
        <p:spPr>
          <a:xfrm>
            <a:off x="1589601" y="359950"/>
            <a:ext cx="6589199" cy="753134"/>
          </a:xfrm>
        </p:spPr>
        <p:txBody>
          <a:bodyPr/>
          <a:lstStyle/>
          <a:p>
            <a:pPr algn="ctr"/>
            <a:r>
              <a:rPr lang="en-US" u="sng" dirty="0">
                <a:solidFill>
                  <a:srgbClr val="FF0000"/>
                </a:solidFill>
                <a:latin typeface="Times New Roman" panose="02020603050405020304" pitchFamily="18" charset="0"/>
                <a:cs typeface="Times New Roman" panose="02020603050405020304" pitchFamily="18" charset="0"/>
              </a:rPr>
              <a:t>Simulation graph</a:t>
            </a:r>
            <a:endParaRPr u="sng"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1D7A1C1-C3D3-327C-C0AD-FB3E740F08A3}"/>
              </a:ext>
            </a:extLst>
          </p:cNvPr>
          <p:cNvPicPr>
            <a:picLocks noChangeAspect="1"/>
          </p:cNvPicPr>
          <p:nvPr/>
        </p:nvPicPr>
        <p:blipFill>
          <a:blip r:embed="rId2"/>
          <a:stretch>
            <a:fillRect/>
          </a:stretch>
        </p:blipFill>
        <p:spPr>
          <a:xfrm>
            <a:off x="477520" y="1265484"/>
            <a:ext cx="8567088" cy="4698436"/>
          </a:xfrm>
          <a:prstGeom prst="rect">
            <a:avLst/>
          </a:prstGeom>
        </p:spPr>
      </p:pic>
      <p:sp>
        <p:nvSpPr>
          <p:cNvPr id="5" name="Arrow: Down 4">
            <a:extLst>
              <a:ext uri="{FF2B5EF4-FFF2-40B4-BE49-F238E27FC236}">
                <a16:creationId xmlns:a16="http://schemas.microsoft.com/office/drawing/2014/main" id="{0B67023B-9EC1-806D-1F31-9E7F68782921}"/>
              </a:ext>
            </a:extLst>
          </p:cNvPr>
          <p:cNvSpPr/>
          <p:nvPr/>
        </p:nvSpPr>
        <p:spPr>
          <a:xfrm>
            <a:off x="4955458" y="1032387"/>
            <a:ext cx="304800" cy="560439"/>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Down 5">
            <a:extLst>
              <a:ext uri="{FF2B5EF4-FFF2-40B4-BE49-F238E27FC236}">
                <a16:creationId xmlns:a16="http://schemas.microsoft.com/office/drawing/2014/main" id="{B1964DE3-04B0-DF43-D2E5-504FF0E4E77D}"/>
              </a:ext>
            </a:extLst>
          </p:cNvPr>
          <p:cNvSpPr/>
          <p:nvPr/>
        </p:nvSpPr>
        <p:spPr>
          <a:xfrm>
            <a:off x="6517968" y="1032387"/>
            <a:ext cx="304800" cy="560439"/>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42692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775712"/>
          </a:xfrm>
        </p:spPr>
        <p:txBody>
          <a:bodyPr/>
          <a:lstStyle/>
          <a:p>
            <a:r>
              <a:rPr u="sng" dirty="0">
                <a:solidFill>
                  <a:srgbClr val="FF0000"/>
                </a:solidFill>
                <a:latin typeface="Times New Roman" panose="02020603050405020304" pitchFamily="18" charset="0"/>
                <a:cs typeface="Times New Roman" panose="02020603050405020304" pitchFamily="18" charset="0"/>
              </a:rPr>
              <a:t>Challenges Faced</a:t>
            </a:r>
          </a:p>
        </p:txBody>
      </p:sp>
      <p:sp>
        <p:nvSpPr>
          <p:cNvPr id="3" name="Content Placeholder 2"/>
          <p:cNvSpPr>
            <a:spLocks noGrp="1"/>
          </p:cNvSpPr>
          <p:nvPr>
            <p:ph idx="1"/>
          </p:nvPr>
        </p:nvSpPr>
        <p:spPr>
          <a:xfrm>
            <a:off x="1607135" y="1415062"/>
            <a:ext cx="6591985" cy="3777622"/>
          </a:xfrm>
        </p:spPr>
        <p:txBody>
          <a:bodyPr/>
          <a:lstStyle/>
          <a:p>
            <a:pPr algn="just"/>
            <a:r>
              <a:rPr dirty="0"/>
              <a:t>• </a:t>
            </a:r>
            <a:r>
              <a:rPr lang="en-US" dirty="0"/>
              <a:t>Integration complexity and optimization of transistor sizing to minimize delay and power overhead due to added XOR gate.</a:t>
            </a:r>
          </a:p>
          <a:p>
            <a:pPr algn="just"/>
            <a:r>
              <a:rPr dirty="0"/>
              <a:t>• </a:t>
            </a:r>
            <a:r>
              <a:rPr lang="en-US" dirty="0"/>
              <a:t>Balancing power consumption and speed while maintaining robust fault detection using XOR integration without introducing excessive delay or signal degradation.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741846"/>
          </a:xfrm>
        </p:spPr>
        <p:txBody>
          <a:bodyPr/>
          <a:lstStyle/>
          <a:p>
            <a:r>
              <a:rPr lang="en-US" u="sng" dirty="0">
                <a:solidFill>
                  <a:srgbClr val="FF0000"/>
                </a:solidFill>
                <a:latin typeface="Times New Roman" panose="02020603050405020304" pitchFamily="18" charset="0"/>
                <a:cs typeface="Times New Roman" panose="02020603050405020304" pitchFamily="18" charset="0"/>
              </a:rPr>
              <a:t>References</a:t>
            </a:r>
            <a:endParaRPr u="sng"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945200" y="1408759"/>
            <a:ext cx="5882617"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 </a:t>
            </a:r>
            <a:r>
              <a:rPr lang="en-US" dirty="0"/>
              <a:t>"2:1 Multiplexer Using Different Design Styles: Comparative Analysis," ICATCT 2020 Conference, Jaipur.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a:t>
            </a:r>
            <a:r>
              <a:rPr lang="en-US" dirty="0"/>
              <a:t> Khyati Sharma, Shweta Agrawal, "Design and Simulation of 2:1 MUX using Various CMOS logic at different technology levels," SRCEM Gwalior.</a:t>
            </a:r>
          </a:p>
        </p:txBody>
      </p:sp>
    </p:spTree>
    <p:extLst>
      <p:ext uri="{BB962C8B-B14F-4D97-AF65-F5344CB8AC3E}">
        <p14:creationId xmlns:p14="http://schemas.microsoft.com/office/powerpoint/2010/main" val="233492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2582" y="1795474"/>
            <a:ext cx="5070764" cy="1648036"/>
          </a:xfrm>
        </p:spPr>
        <p:txBody>
          <a:bodyPr>
            <a:noAutofit/>
          </a:bodyPr>
          <a:lstStyle/>
          <a:p>
            <a:r>
              <a:rPr lang="en-US" sz="5400" dirty="0">
                <a:solidFill>
                  <a:srgbClr val="00B050"/>
                </a:solidFill>
                <a:latin typeface="Times New Roman" panose="02020603050405020304" pitchFamily="18" charset="0"/>
                <a:cs typeface="Times New Roman" panose="02020603050405020304" pitchFamily="18" charset="0"/>
              </a:rPr>
              <a:t>Thank You</a:t>
            </a:r>
            <a:endParaRPr sz="54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056913"/>
      </p:ext>
    </p:extLst>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160</TotalTime>
  <Words>868</Words>
  <Application>Microsoft Office PowerPoint</Application>
  <PresentationFormat>On-screen Show (4:3)</PresentationFormat>
  <Paragraphs>108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Times New Roman</vt:lpstr>
      <vt:lpstr>Wingdings 3</vt:lpstr>
      <vt:lpstr>Wisp</vt:lpstr>
      <vt:lpstr>Project Review </vt:lpstr>
      <vt:lpstr>Project Details</vt:lpstr>
      <vt:lpstr>Problem Statement &amp; Objectives</vt:lpstr>
      <vt:lpstr>Literature Review</vt:lpstr>
      <vt:lpstr>Proposed Methodology</vt:lpstr>
      <vt:lpstr>Expected Outcomes</vt:lpstr>
      <vt:lpstr>Truth Table</vt:lpstr>
      <vt:lpstr>Schematic design</vt:lpstr>
      <vt:lpstr>Simulation graph</vt:lpstr>
      <vt:lpstr>Challenges Faced</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 I</dc:title>
  <dc:subject/>
  <dc:creator>BIBHU</dc:creator>
  <cp:keywords/>
  <dc:description>generated using python-pptx</dc:description>
  <cp:lastModifiedBy>P devraj</cp:lastModifiedBy>
  <cp:revision>15</cp:revision>
  <dcterms:created xsi:type="dcterms:W3CDTF">2013-01-27T09:14:16Z</dcterms:created>
  <dcterms:modified xsi:type="dcterms:W3CDTF">2025-11-19T10:04:52Z</dcterms:modified>
  <cp:category/>
</cp:coreProperties>
</file>